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5" r:id="rId5"/>
    <p:sldId id="278" r:id="rId6"/>
    <p:sldId id="279" r:id="rId7"/>
    <p:sldId id="290" r:id="rId8"/>
    <p:sldId id="264" r:id="rId9"/>
    <p:sldId id="286" r:id="rId10"/>
    <p:sldId id="287" r:id="rId11"/>
    <p:sldId id="280" r:id="rId12"/>
    <p:sldId id="288" r:id="rId13"/>
    <p:sldId id="289"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14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641065331"/>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Vibhav </a:t>
                      </a:r>
                      <a:r>
                        <a:rPr lang="en-US" dirty="0" err="1"/>
                        <a:t>Pralhad</a:t>
                      </a:r>
                      <a:r>
                        <a:rPr lang="en-US" dirty="0"/>
                        <a:t> </a:t>
                      </a:r>
                      <a:r>
                        <a:rPr lang="en-US" dirty="0" err="1"/>
                        <a:t>Mahishi</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vibhavmahishi@gmail.com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+918766415237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Finance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[Investment Analyst Agent]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26391F27-B38B-1987-08E5-1BACDE4EF332}"/>
              </a:ext>
            </a:extLst>
          </p:cNvPr>
          <p:cNvPicPr>
            <a:picLocks noChangeAspect="1"/>
          </p:cNvPicPr>
          <p:nvPr/>
        </p:nvPicPr>
        <p:blipFill>
          <a:blip r:embed="rId3"/>
          <a:stretch>
            <a:fillRect/>
          </a:stretch>
        </p:blipFill>
        <p:spPr>
          <a:xfrm>
            <a:off x="3854955" y="3657600"/>
            <a:ext cx="1168841" cy="967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616648"/>
          </a:xfrm>
          <a:prstGeom prst="rect">
            <a:avLst/>
          </a:prstGeom>
          <a:noFill/>
        </p:spPr>
        <p:txBody>
          <a:bodyPr wrap="square" rtlCol="0">
            <a:spAutoFit/>
          </a:bodyPr>
          <a:lstStyle/>
          <a:p>
            <a:pPr fontAlgn="base"/>
            <a:r>
              <a:rPr lang="en-US" b="1" dirty="0"/>
              <a:t>Problem Statement : Investment Analyst</a:t>
            </a:r>
            <a:endParaRPr lang="en-US" dirty="0"/>
          </a:p>
          <a:p>
            <a:pPr fontAlgn="base"/>
            <a:endParaRPr lang="en-US" b="1" dirty="0"/>
          </a:p>
          <a:p>
            <a:pPr fontAlgn="base"/>
            <a:r>
              <a:rPr lang="en-US" b="1" dirty="0"/>
              <a:t>The Challenge</a:t>
            </a:r>
            <a:r>
              <a:rPr lang="en-US" dirty="0"/>
              <a:t> </a:t>
            </a:r>
          </a:p>
          <a:p>
            <a:r>
              <a:rPr lang="en-IN" dirty="0"/>
              <a:t>Investment analysts need to process financial information—company reports, stock performance, market news, financial indicators, and analyst opinions. Much of this information is scattered across sources and requires collection, validation, comparison, and analysis to support informed investment decisions. Manual financial research is time-consuming and prone to errors. The challenge is not just to collect market information but to automate analytical tasks that generate practical and data-driven investment insights.</a:t>
            </a:r>
          </a:p>
          <a:p>
            <a:pPr fontAlgn="base"/>
            <a:endParaRPr lang="en-US" dirty="0"/>
          </a:p>
          <a:p>
            <a:pPr fontAlgn="base"/>
            <a:r>
              <a:rPr lang="en-US" b="1" dirty="0"/>
              <a:t>The Objective</a:t>
            </a:r>
            <a:r>
              <a:rPr lang="en-US" dirty="0"/>
              <a:t> </a:t>
            </a:r>
          </a:p>
          <a:p>
            <a:r>
              <a:rPr lang="en-IN" dirty="0"/>
              <a:t>Build an AI-powered Investment Analyst Agent that delivers data-driven financial insights and investment guidance for individuals, investors, and financial professionals. The solution should:</a:t>
            </a:r>
          </a:p>
          <a:p>
            <a:pPr marL="285750" indent="-285750" fontAlgn="base">
              <a:buFont typeface="Arial" panose="020B0604020202020204" pitchFamily="34" charset="0"/>
              <a:buChar char="•"/>
            </a:pPr>
            <a:r>
              <a:rPr lang="en-IN" b="1" dirty="0"/>
              <a:t>Automate Data Gathering</a:t>
            </a:r>
            <a:r>
              <a:rPr lang="en-US" dirty="0"/>
              <a:t>– </a:t>
            </a:r>
            <a:r>
              <a:rPr lang="en-IN" dirty="0"/>
              <a:t>Collect financial information from company reports, stock exchanges, market data, and trusted news sources</a:t>
            </a:r>
            <a:r>
              <a:rPr lang="en-US" dirty="0"/>
              <a:t>. </a:t>
            </a:r>
          </a:p>
          <a:p>
            <a:pPr marL="285750" indent="-285750" fontAlgn="base">
              <a:buFont typeface="Arial" panose="020B0604020202020204" pitchFamily="34" charset="0"/>
              <a:buChar char="•"/>
            </a:pPr>
            <a:r>
              <a:rPr lang="en-IN" b="1" dirty="0"/>
              <a:t>Perform Financial Analysis</a:t>
            </a:r>
            <a:r>
              <a:rPr lang="en-US" dirty="0"/>
              <a:t>– </a:t>
            </a:r>
            <a:r>
              <a:rPr lang="en-IN" dirty="0"/>
              <a:t>Extract KPIs, calculate financial ratios, </a:t>
            </a:r>
            <a:r>
              <a:rPr lang="en-IN" dirty="0" err="1"/>
              <a:t>analyze</a:t>
            </a:r>
            <a:r>
              <a:rPr lang="en-IN" dirty="0"/>
              <a:t> trends, and evaluate company performance</a:t>
            </a:r>
            <a:r>
              <a:rPr lang="en-US" dirty="0"/>
              <a:t>. </a:t>
            </a:r>
          </a:p>
          <a:p>
            <a:pPr marL="285750" indent="-285750" fontAlgn="base">
              <a:buFont typeface="Arial" panose="020B0604020202020204" pitchFamily="34" charset="0"/>
              <a:buChar char="•"/>
            </a:pPr>
            <a:r>
              <a:rPr lang="en-IN" b="1" dirty="0"/>
              <a:t>Generate Investment Insights</a:t>
            </a:r>
            <a:r>
              <a:rPr lang="en-US" dirty="0"/>
              <a:t>– </a:t>
            </a:r>
            <a:r>
              <a:rPr lang="en-IN" dirty="0"/>
              <a:t>Detect financial risks, </a:t>
            </a:r>
            <a:r>
              <a:rPr lang="en-IN" dirty="0" err="1"/>
              <a:t>analyze</a:t>
            </a:r>
            <a:r>
              <a:rPr lang="en-IN" dirty="0"/>
              <a:t> market sentiment, identify trends, and provide forward-looking recommendations.</a:t>
            </a:r>
            <a:endParaRPr lang="en-US" dirty="0"/>
          </a:p>
          <a:p>
            <a:pPr marL="285750" indent="-285750" fontAlgn="base">
              <a:buFont typeface="Arial" panose="020B0604020202020204" pitchFamily="34" charset="0"/>
              <a:buChar char="•"/>
            </a:pPr>
            <a:r>
              <a:rPr lang="en-IN" b="1" dirty="0"/>
              <a:t>Coordinate Sequential Tasks</a:t>
            </a:r>
            <a:r>
              <a:rPr lang="en-US" dirty="0"/>
              <a:t>– </a:t>
            </a:r>
            <a:r>
              <a:rPr lang="en-IN" dirty="0"/>
              <a:t>Execute data gathering, validation, analysis, competitor comparison, risk detection, and recommendation tasks sequentially and present investment summaries, trend indicators, risks, and actionable insights through a visualization dashboard.</a:t>
            </a:r>
            <a:endParaRPr lang="en-US" dirty="0"/>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IN" b="1" dirty="0"/>
              <a:t>Proposed Solution: AI-Powered Investment Analyst Agent</a:t>
            </a:r>
          </a:p>
          <a:p>
            <a:r>
              <a:rPr lang="en-IN" dirty="0"/>
              <a:t>The proposed solution is a multi-agent AI-powered Investment Analyst Agent built using </a:t>
            </a:r>
            <a:r>
              <a:rPr lang="en-IN" dirty="0" err="1"/>
              <a:t>LangFlow</a:t>
            </a:r>
            <a:r>
              <a:rPr lang="en-IN" dirty="0"/>
              <a:t>, IBM watsonx.ai, and Granite Models to provide data-driven investment insights. The system addresses challenges in financial research, market analysis, and investment decision-making through an intelligent, structured architecture.</a:t>
            </a:r>
          </a:p>
          <a:p>
            <a:r>
              <a:rPr lang="en-IN" dirty="0"/>
              <a:t>At its core, the solution uses a Retrieval-Augmented Generation (RAG) pipeline to fetch accurate financial information from trusted sources such as company reports, stock exchanges, and market news feeds. This data is embedded and stored in a vector database, enabling the system to retrieve and summarize financial metrics, market developments, and analyst insights using Granite models.</a:t>
            </a:r>
          </a:p>
          <a:p>
            <a:r>
              <a:rPr lang="en-IN" dirty="0"/>
              <a:t>The system follows four key sequential tasks:</a:t>
            </a:r>
          </a:p>
          <a:p>
            <a:r>
              <a:rPr lang="en-IN" dirty="0"/>
              <a:t>Data Gathering Task retrieves and summarizes company financial reports, stock performance data, and relevant market information.</a:t>
            </a:r>
          </a:p>
          <a:p>
            <a:r>
              <a:rPr lang="en-IN" dirty="0"/>
              <a:t>Financial Analysis Task extracts KPIs, calculates financial ratios, identifies trends, and evaluates company performance.</a:t>
            </a:r>
          </a:p>
          <a:p>
            <a:r>
              <a:rPr lang="en-IN" dirty="0"/>
              <a:t>Market Intelligence Task compares competitors, </a:t>
            </a:r>
            <a:r>
              <a:rPr lang="en-IN" dirty="0" err="1"/>
              <a:t>analyzes</a:t>
            </a:r>
            <a:r>
              <a:rPr lang="en-IN" dirty="0"/>
              <a:t> market sentiment, and identifies industry developments, opportunities, and risks.</a:t>
            </a:r>
          </a:p>
          <a:p>
            <a:r>
              <a:rPr lang="en-IN" dirty="0"/>
              <a:t>Investment Recommendation Task combines validated insights to generate forward-looking observations, risk indicators, and actionable investment recommendations.</a:t>
            </a:r>
          </a:p>
          <a:p>
            <a:r>
              <a:rPr lang="en-IN" dirty="0"/>
              <a:t>The solution includes a user-friendly dashboard built with </a:t>
            </a:r>
            <a:r>
              <a:rPr lang="en-IN" dirty="0" err="1"/>
              <a:t>Streamlit</a:t>
            </a:r>
            <a:r>
              <a:rPr lang="en-IN" dirty="0"/>
              <a:t> or React that visualizes financial trends, key performance indicators, risk levels, market sentiment, and investment summaries.</a:t>
            </a:r>
          </a:p>
          <a:p>
            <a:r>
              <a:rPr lang="en-IN" dirty="0" err="1"/>
              <a:t>LangFlow</a:t>
            </a:r>
            <a:r>
              <a:rPr lang="en-IN" dirty="0"/>
              <a:t> is used to orchestrate sequential workflows, while watsonx.ai ensures model deployment, embeddings, and AI governance. Granite models power reasoning, summarization, comparison, and intelligent insight generation.</a:t>
            </a:r>
          </a:p>
          <a:p>
            <a:r>
              <a:rPr lang="en-IN" dirty="0"/>
              <a:t>Overall, this solution delivers an end-to-end intelligent investment assistant that improves financial analysis through automated workflows, structured insights, predictive observations, and data-driven investment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678204"/>
          </a:xfrm>
          <a:prstGeom prst="rect">
            <a:avLst/>
          </a:prstGeom>
          <a:noFill/>
        </p:spPr>
        <p:txBody>
          <a:bodyPr wrap="square" lIns="91440" tIns="45720" rIns="91440" bIns="45720" rtlCol="0" anchor="t">
            <a:spAutoFit/>
          </a:bodyPr>
          <a:lstStyle/>
          <a:p>
            <a:r>
              <a:rPr lang="en-IN" sz="1800" b="1" dirty="0"/>
              <a:t>1.IBM </a:t>
            </a:r>
            <a:r>
              <a:rPr lang="en-IN" sz="1800" b="1" dirty="0" err="1"/>
              <a:t>watsonx</a:t>
            </a:r>
            <a:r>
              <a:rPr lang="en-IN" sz="1800" b="1" dirty="0"/>
              <a:t> Orchestrate</a:t>
            </a:r>
            <a:r>
              <a:rPr lang="en-IN" sz="1800" dirty="0"/>
              <a:t> – For designing, building, and orchestrating the sequential Investment Analyst Agent workflow and automating financial analysis tasks.</a:t>
            </a:r>
          </a:p>
          <a:p>
            <a:endParaRPr lang="en-IN" sz="1800" dirty="0"/>
          </a:p>
          <a:p>
            <a:r>
              <a:rPr lang="en-IN" sz="1800" b="1" dirty="0"/>
              <a:t>2.IBM Granite Model</a:t>
            </a:r>
            <a:r>
              <a:rPr lang="en-IN" sz="1800" dirty="0"/>
              <a:t> – For natural language understanding, financial reasoning, summarization, analysis, and generating data-driven investment insights.</a:t>
            </a:r>
          </a:p>
          <a:p>
            <a:endParaRPr lang="en-IN" sz="1800" dirty="0"/>
          </a:p>
          <a:p>
            <a:r>
              <a:rPr lang="en-IN" sz="1800" b="1" dirty="0"/>
              <a:t>3.IBM Cloud</a:t>
            </a:r>
            <a:r>
              <a:rPr lang="en-IN" sz="1800" dirty="0"/>
              <a:t> – Provides reliable, secure, and scalable infrastructure to deploy and operate the Investment Analyst Agent efficiently.</a:t>
            </a:r>
          </a:p>
          <a:p>
            <a:endParaRPr lang="en-IN" sz="1800" dirty="0"/>
          </a:p>
          <a:p>
            <a:r>
              <a:rPr lang="en-IN" sz="1800" b="1" dirty="0"/>
              <a:t>4.IBM watsonx.ai</a:t>
            </a:r>
            <a:r>
              <a:rPr lang="en-IN" sz="1800" dirty="0"/>
              <a:t> – For AI model capabilities, embeddings, reasoning, and AI governance.</a:t>
            </a:r>
          </a:p>
          <a:p>
            <a:endParaRPr lang="en-IN" sz="1800" dirty="0"/>
          </a:p>
          <a:p>
            <a:r>
              <a:rPr lang="en-IN" sz="1800" b="1" dirty="0"/>
              <a:t>5.IBM Bob</a:t>
            </a:r>
            <a:r>
              <a:rPr lang="en-IN" sz="1800" dirty="0"/>
              <a:t> – Used to build and develop the interactive website and user interface for the Investment Analyst Agent.</a:t>
            </a:r>
          </a:p>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Orchestrate workflow -</a:t>
            </a:r>
            <a:endParaRPr sz="2400" b="1" dirty="0">
              <a:sym typeface="Times New Roman"/>
            </a:endParaRPr>
          </a:p>
        </p:txBody>
      </p:sp>
      <p:pic>
        <p:nvPicPr>
          <p:cNvPr id="5" name="Picture 4">
            <a:extLst>
              <a:ext uri="{FF2B5EF4-FFF2-40B4-BE49-F238E27FC236}">
                <a16:creationId xmlns:a16="http://schemas.microsoft.com/office/drawing/2014/main" id="{DBA5A4A1-4A6B-C076-7250-075FB3C1AB07}"/>
              </a:ext>
            </a:extLst>
          </p:cNvPr>
          <p:cNvPicPr>
            <a:picLocks noChangeAspect="1"/>
          </p:cNvPicPr>
          <p:nvPr/>
        </p:nvPicPr>
        <p:blipFill>
          <a:blip r:embed="rId3"/>
          <a:stretch>
            <a:fillRect/>
          </a:stretch>
        </p:blipFill>
        <p:spPr>
          <a:xfrm>
            <a:off x="620202" y="1041621"/>
            <a:ext cx="10962198" cy="538303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FD0D2-EDBE-DE3F-8723-C659D9A44173}"/>
              </a:ext>
            </a:extLst>
          </p:cNvPr>
          <p:cNvSpPr>
            <a:spLocks noGrp="1"/>
          </p:cNvSpPr>
          <p:nvPr>
            <p:ph type="title"/>
          </p:nvPr>
        </p:nvSpPr>
        <p:spPr>
          <a:xfrm>
            <a:off x="688727" y="221284"/>
            <a:ext cx="10515600" cy="547066"/>
          </a:xfrm>
        </p:spPr>
        <p:txBody>
          <a:bodyPr>
            <a:normAutofit/>
          </a:bodyPr>
          <a:lstStyle/>
          <a:p>
            <a:r>
              <a:rPr lang="en-US" sz="2800" dirty="0">
                <a:latin typeface="+mj-lt"/>
              </a:rPr>
              <a:t>Agent Website -</a:t>
            </a:r>
            <a:endParaRPr lang="en-IN" sz="2800" dirty="0">
              <a:latin typeface="+mj-lt"/>
            </a:endParaRPr>
          </a:p>
        </p:txBody>
      </p:sp>
      <p:sp>
        <p:nvSpPr>
          <p:cNvPr id="3" name="Text Placeholder 2">
            <a:extLst>
              <a:ext uri="{FF2B5EF4-FFF2-40B4-BE49-F238E27FC236}">
                <a16:creationId xmlns:a16="http://schemas.microsoft.com/office/drawing/2014/main" id="{DF1A7DCE-A26F-3B9C-44C1-CB3D737FB5F8}"/>
              </a:ext>
            </a:extLst>
          </p:cNvPr>
          <p:cNvSpPr>
            <a:spLocks noGrp="1"/>
          </p:cNvSpPr>
          <p:nvPr>
            <p:ph type="body" idx="1"/>
          </p:nvPr>
        </p:nvSpPr>
        <p:spPr>
          <a:xfrm>
            <a:off x="831850" y="6440556"/>
            <a:ext cx="10515600" cy="103367"/>
          </a:xfrm>
        </p:spPr>
        <p:txBody>
          <a:bodyPr>
            <a:normAutofit fontScale="25000" lnSpcReduction="20000"/>
          </a:bodyPr>
          <a:lstStyle/>
          <a:p>
            <a:endParaRPr lang="en-IN" dirty="0"/>
          </a:p>
        </p:txBody>
      </p:sp>
      <p:pic>
        <p:nvPicPr>
          <p:cNvPr id="5" name="Picture 4">
            <a:extLst>
              <a:ext uri="{FF2B5EF4-FFF2-40B4-BE49-F238E27FC236}">
                <a16:creationId xmlns:a16="http://schemas.microsoft.com/office/drawing/2014/main" id="{93CFB61A-0953-148A-FE71-8E064526300C}"/>
              </a:ext>
            </a:extLst>
          </p:cNvPr>
          <p:cNvPicPr>
            <a:picLocks noChangeAspect="1"/>
          </p:cNvPicPr>
          <p:nvPr/>
        </p:nvPicPr>
        <p:blipFill>
          <a:blip r:embed="rId2"/>
          <a:stretch>
            <a:fillRect/>
          </a:stretch>
        </p:blipFill>
        <p:spPr>
          <a:xfrm>
            <a:off x="283597" y="958132"/>
            <a:ext cx="5910470" cy="4941736"/>
          </a:xfrm>
          <a:prstGeom prst="rect">
            <a:avLst/>
          </a:prstGeom>
        </p:spPr>
      </p:pic>
      <p:pic>
        <p:nvPicPr>
          <p:cNvPr id="7" name="Picture 6">
            <a:extLst>
              <a:ext uri="{FF2B5EF4-FFF2-40B4-BE49-F238E27FC236}">
                <a16:creationId xmlns:a16="http://schemas.microsoft.com/office/drawing/2014/main" id="{8034E75E-CB06-20A1-C73F-98A42C6BC8CE}"/>
              </a:ext>
            </a:extLst>
          </p:cNvPr>
          <p:cNvPicPr>
            <a:picLocks noChangeAspect="1"/>
          </p:cNvPicPr>
          <p:nvPr/>
        </p:nvPicPr>
        <p:blipFill>
          <a:blip r:embed="rId3"/>
          <a:stretch>
            <a:fillRect/>
          </a:stretch>
        </p:blipFill>
        <p:spPr>
          <a:xfrm>
            <a:off x="6361042" y="958132"/>
            <a:ext cx="5613621" cy="4941736"/>
          </a:xfrm>
          <a:prstGeom prst="rect">
            <a:avLst/>
          </a:prstGeom>
        </p:spPr>
      </p:pic>
    </p:spTree>
    <p:extLst>
      <p:ext uri="{BB962C8B-B14F-4D97-AF65-F5344CB8AC3E}">
        <p14:creationId xmlns:p14="http://schemas.microsoft.com/office/powerpoint/2010/main" val="1904778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323987"/>
          </a:xfrm>
          <a:prstGeom prst="rect">
            <a:avLst/>
          </a:prstGeom>
          <a:noFill/>
        </p:spPr>
        <p:txBody>
          <a:bodyPr wrap="square" rtlCol="0">
            <a:spAutoFit/>
          </a:bodyPr>
          <a:lstStyle/>
          <a:p>
            <a:r>
              <a:rPr lang="en-IN" b="1" dirty="0"/>
              <a:t>Role of Agentic AI in Investment Analyst Agent</a:t>
            </a:r>
          </a:p>
          <a:p>
            <a:r>
              <a:rPr lang="en-IN" dirty="0"/>
              <a:t>Agentic AI enables the Investment Analyst Agent to function as an intelligent, autonomous system rather than a simple chatbot. Using IBM watsonx.ai and IBM Granite models, it coordinates sequential analytical tasks to deliver data-driven investment insights.</a:t>
            </a:r>
          </a:p>
          <a:p>
            <a:r>
              <a:rPr lang="en-IN" dirty="0"/>
              <a:t>Each task performs a specific role—such as gathering financial data, extracting KPIs, </a:t>
            </a:r>
            <a:r>
              <a:rPr lang="en-IN" dirty="0" err="1"/>
              <a:t>analyzing</a:t>
            </a:r>
            <a:r>
              <a:rPr lang="en-IN" dirty="0"/>
              <a:t> market trends, comparing competitors, and identifying risks—while working sequentially. This structured approach ensures efficient task execution and accurate results.</a:t>
            </a:r>
          </a:p>
          <a:p>
            <a:r>
              <a:rPr lang="en-IN" dirty="0"/>
              <a:t>Agentic AI also brings context awareness, understanding financial performance, market conditions, and investment objectives to generate relevant recommendations. It supports real-time adaptation, continuously updating insights based on new financial reports and market information.</a:t>
            </a:r>
          </a:p>
          <a:p>
            <a:r>
              <a:rPr lang="en-IN" dirty="0"/>
              <a:t>Additionally, analytical tasks share validated results with each other, enabling better decision-making and improved outcomes.</a:t>
            </a:r>
          </a:p>
          <a:p>
            <a:r>
              <a:rPr lang="en-IN" dirty="0"/>
              <a:t>Overall, Agentic AI makes the system proactive, analytical, and goal-driven, acting like a smart digital investment analyst that helps users make informed investment decisions.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62668"/>
            <a:ext cx="11301984" cy="5293757"/>
          </a:xfrm>
          <a:prstGeom prst="rect">
            <a:avLst/>
          </a:prstGeom>
          <a:noFill/>
        </p:spPr>
        <p:txBody>
          <a:bodyPr wrap="square" rtlCol="0">
            <a:spAutoFit/>
          </a:bodyPr>
          <a:lstStyle/>
          <a:p>
            <a:r>
              <a:rPr lang="en-IN" sz="1800" dirty="0"/>
              <a:t>The proposed Investment Analyst Agent stands out by combining Agentic AI, RAG, and sequential analysis into one intelligent system.</a:t>
            </a:r>
          </a:p>
          <a:p>
            <a:r>
              <a:rPr lang="en-IN" sz="1800" b="1" dirty="0"/>
              <a:t>Sequential Task Intelligence </a:t>
            </a:r>
            <a:r>
              <a:rPr lang="en-IN" sz="1800" dirty="0"/>
              <a:t>– Instead of a chatbot, analytical tasks collaborate to deliver context-aware investment insights.</a:t>
            </a:r>
          </a:p>
          <a:p>
            <a:r>
              <a:rPr lang="en-IN" sz="1800" b="1" dirty="0"/>
              <a:t>RAG-Based Accuracy </a:t>
            </a:r>
            <a:r>
              <a:rPr lang="en-IN" sz="1800" dirty="0"/>
              <a:t>– Integrates data retrieval with AI generation, reducing misinformation and ensuring reliable analysis.</a:t>
            </a:r>
          </a:p>
          <a:p>
            <a:r>
              <a:rPr lang="en-IN" sz="1800" b="1" dirty="0"/>
              <a:t>Data-Driven Analysis </a:t>
            </a:r>
            <a:r>
              <a:rPr lang="en-IN" sz="1800" dirty="0"/>
              <a:t>– Evaluates KPIs, financial ratios, market trends, competitor performance, and investment risks.</a:t>
            </a:r>
          </a:p>
          <a:p>
            <a:r>
              <a:rPr lang="en-IN" sz="1800" b="1" dirty="0"/>
              <a:t>Real-Time Insight Loop </a:t>
            </a:r>
            <a:r>
              <a:rPr lang="en-IN" sz="1800" dirty="0"/>
              <a:t>– Continuously adapts recommendations based on reports, market news, and conditions.</a:t>
            </a:r>
          </a:p>
          <a:p>
            <a:r>
              <a:rPr lang="en-IN" sz="1800" b="1" dirty="0"/>
              <a:t>Multi-Source Intelligence </a:t>
            </a:r>
            <a:r>
              <a:rPr lang="en-IN" sz="1800" dirty="0"/>
              <a:t>– Processes reports, stock data, market news, and analyst opinions for comprehensive analysis.</a:t>
            </a:r>
          </a:p>
          <a:p>
            <a:r>
              <a:rPr lang="en-IN" sz="1800" b="1" dirty="0"/>
              <a:t>Predictive Investment Focus </a:t>
            </a:r>
            <a:r>
              <a:rPr lang="en-IN" sz="1800" dirty="0"/>
              <a:t>– Goes beyond summaries to identify trends, risks, and forward-looking opportunities.</a:t>
            </a:r>
          </a:p>
          <a:p>
            <a:r>
              <a:rPr lang="en-IN" sz="1800" b="1" dirty="0"/>
              <a:t>Scalable &amp; Enterprise-Ready </a:t>
            </a:r>
            <a:r>
              <a:rPr lang="en-IN" sz="1800" dirty="0"/>
              <a:t>– Built on IBM watsonx.ai with IBM Granite models, ensuring reliability and governance.</a:t>
            </a:r>
          </a:p>
          <a:p>
            <a:r>
              <a:rPr lang="en-IN" sz="1800" dirty="0"/>
              <a:t>This makes the solution a smart, adaptive, and proactive digital investment analyst, not just a static financial analysis tool.</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0773" y="1221715"/>
            <a:ext cx="9214580" cy="4277001"/>
          </a:xfrm>
          <a:prstGeom prst="rect">
            <a:avLst/>
          </a:prstGeom>
          <a:noFill/>
          <a:ln>
            <a:noFill/>
          </a:ln>
        </p:spPr>
        <p:txBody>
          <a:bodyPr spcFirstLastPara="1" wrap="square" lIns="0" tIns="0" rIns="0" bIns="0" anchor="t" anchorCtr="0">
            <a:noAutofit/>
          </a:bodyPr>
          <a:lstStyle/>
          <a:p>
            <a:r>
              <a:rPr lang="en-IN" sz="2000" b="1" dirty="0"/>
              <a:t>1.Integration with Real-Time Market &amp; Trading Platforms</a:t>
            </a:r>
            <a:r>
              <a:rPr lang="en-IN" sz="2000" dirty="0"/>
              <a:t> –</a:t>
            </a:r>
            <a:br>
              <a:rPr lang="en-IN" sz="2000" dirty="0"/>
            </a:br>
            <a:r>
              <a:rPr lang="en-IN" sz="2000" dirty="0"/>
              <a:t>The system can be integrated with stock exchanges and financial platforms to collect real-time data such as stock prices, trading volume, market indices, and financial indicators. This will enable the Investment Analyst Agent to provide more accurate and dynamic investment insights based on actual market movements and financial conditions.</a:t>
            </a:r>
          </a:p>
          <a:p>
            <a:endParaRPr lang="en-IN" sz="2000" dirty="0"/>
          </a:p>
          <a:p>
            <a:r>
              <a:rPr lang="en-IN" sz="2000" b="1" dirty="0"/>
              <a:t>2.AI-Powered Voice Assistant &amp; Multilingual Support </a:t>
            </a:r>
            <a:r>
              <a:rPr lang="en-IN" sz="2000" dirty="0"/>
              <a:t>–</a:t>
            </a:r>
            <a:br>
              <a:rPr lang="en-IN" sz="2000" dirty="0"/>
            </a:br>
            <a:r>
              <a:rPr lang="en-IN" sz="2000" dirty="0"/>
              <a:t>Enhancing the system with a voice-enabled assistant and support for multiple languages will improve accessibility. Users can interact naturally in their preferred language, making the solution more inclusive and suitable for diverse investors, especially in regions with varied financial backgrounds.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22AB00E5-9F80-2217-A5D8-600664E2407B}"/>
              </a:ext>
            </a:extLst>
          </p:cNvPr>
          <p:cNvPicPr>
            <a:picLocks noChangeAspect="1"/>
          </p:cNvPicPr>
          <p:nvPr/>
        </p:nvPicPr>
        <p:blipFill>
          <a:blip r:embed="rId2"/>
          <a:stretch>
            <a:fillRect/>
          </a:stretch>
        </p:blipFill>
        <p:spPr>
          <a:xfrm>
            <a:off x="685805" y="4796169"/>
            <a:ext cx="5062987" cy="1854451"/>
          </a:xfrm>
          <a:prstGeom prst="rect">
            <a:avLst/>
          </a:prstGeom>
        </p:spPr>
      </p:pic>
      <p:pic>
        <p:nvPicPr>
          <p:cNvPr id="8" name="Picture 7">
            <a:extLst>
              <a:ext uri="{FF2B5EF4-FFF2-40B4-BE49-F238E27FC236}">
                <a16:creationId xmlns:a16="http://schemas.microsoft.com/office/drawing/2014/main" id="{FB8AFF6F-DCE0-CF8A-1803-7B6E5616310D}"/>
              </a:ext>
            </a:extLst>
          </p:cNvPr>
          <p:cNvPicPr>
            <a:picLocks noChangeAspect="1"/>
          </p:cNvPicPr>
          <p:nvPr/>
        </p:nvPicPr>
        <p:blipFill>
          <a:blip r:embed="rId3"/>
          <a:stretch>
            <a:fillRect/>
          </a:stretch>
        </p:blipFill>
        <p:spPr>
          <a:xfrm>
            <a:off x="6356277" y="4796168"/>
            <a:ext cx="5329135" cy="1854451"/>
          </a:xfrm>
          <a:prstGeom prst="rect">
            <a:avLst/>
          </a:prstGeom>
        </p:spPr>
      </p:pic>
      <p:pic>
        <p:nvPicPr>
          <p:cNvPr id="10" name="Picture 9">
            <a:extLst>
              <a:ext uri="{FF2B5EF4-FFF2-40B4-BE49-F238E27FC236}">
                <a16:creationId xmlns:a16="http://schemas.microsoft.com/office/drawing/2014/main" id="{E807764A-906C-9ECA-DC11-7C624187BE0A}"/>
              </a:ext>
            </a:extLst>
          </p:cNvPr>
          <p:cNvPicPr>
            <a:picLocks noChangeAspect="1"/>
          </p:cNvPicPr>
          <p:nvPr/>
        </p:nvPicPr>
        <p:blipFill>
          <a:blip r:embed="rId4"/>
          <a:stretch>
            <a:fillRect/>
          </a:stretch>
        </p:blipFill>
        <p:spPr>
          <a:xfrm>
            <a:off x="6447377" y="2061832"/>
            <a:ext cx="4808637" cy="2373735"/>
          </a:xfrm>
          <a:prstGeom prst="rect">
            <a:avLst/>
          </a:prstGeom>
        </p:spPr>
      </p:pic>
      <p:pic>
        <p:nvPicPr>
          <p:cNvPr id="12" name="Picture 11">
            <a:extLst>
              <a:ext uri="{FF2B5EF4-FFF2-40B4-BE49-F238E27FC236}">
                <a16:creationId xmlns:a16="http://schemas.microsoft.com/office/drawing/2014/main" id="{D4E9559D-879A-620A-88B8-1B29C4BD93CF}"/>
              </a:ext>
            </a:extLst>
          </p:cNvPr>
          <p:cNvPicPr>
            <a:picLocks noChangeAspect="1"/>
          </p:cNvPicPr>
          <p:nvPr/>
        </p:nvPicPr>
        <p:blipFill>
          <a:blip r:embed="rId5"/>
          <a:stretch>
            <a:fillRect/>
          </a:stretch>
        </p:blipFill>
        <p:spPr>
          <a:xfrm>
            <a:off x="681638" y="2006538"/>
            <a:ext cx="5062987" cy="242902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8D60ED0E-E6BB-8536-A40F-DDA88E64D1E5}"/>
              </a:ext>
            </a:extLst>
          </p:cNvPr>
          <p:cNvPicPr>
            <a:picLocks noChangeAspect="1"/>
          </p:cNvPicPr>
          <p:nvPr/>
        </p:nvPicPr>
        <p:blipFill>
          <a:blip r:embed="rId2"/>
          <a:stretch>
            <a:fillRect/>
          </a:stretch>
        </p:blipFill>
        <p:spPr>
          <a:xfrm>
            <a:off x="1058743" y="1200580"/>
            <a:ext cx="10074513" cy="5314787"/>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1258</Words>
  <Application>Microsoft Office PowerPoint</Application>
  <PresentationFormat>Widescreen</PresentationFormat>
  <Paragraphs>87</Paragraphs>
  <Slides>14</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Agent Website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vibhav_mahishi@outlook.com</cp:lastModifiedBy>
  <cp:revision>16</cp:revision>
  <dcterms:created xsi:type="dcterms:W3CDTF">2025-07-08T05:06:56Z</dcterms:created>
  <dcterms:modified xsi:type="dcterms:W3CDTF">2026-07-15T05:35:46Z</dcterms:modified>
</cp:coreProperties>
</file>